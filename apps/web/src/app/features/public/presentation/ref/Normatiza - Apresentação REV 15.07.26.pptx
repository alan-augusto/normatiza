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8"/>
  </p:notesMasterIdLst>
  <p:sldIdLst>
    <p:sldId id="256" r:id="rId2"/>
    <p:sldId id="257" r:id="rId3"/>
    <p:sldId id="267" r:id="rId4"/>
    <p:sldId id="270" r:id="rId5"/>
    <p:sldId id="271" r:id="rId6"/>
    <p:sldId id="266" r:id="rId7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9"/>
      <p:bold r:id="rId10"/>
      <p:italic r:id="rId11"/>
      <p:boldItalic r:id="rId12"/>
    </p:embeddedFont>
    <p:embeddedFont>
      <p:font typeface="Roboto Condensed" panose="02000000000000000000" pitchFamily="2" charset="0"/>
      <p:regular r:id="rId13"/>
      <p:bold r:id="rId14"/>
      <p:italic r:id="rId15"/>
      <p:boldItalic r:id="rId16"/>
    </p:embeddedFont>
    <p:embeddedFont>
      <p:font typeface="Roboto Condensed Light" panose="02000000000000000000" pitchFamily="2" charset="0"/>
      <p:regular r:id="rId17"/>
      <p:bold r:id="rId18"/>
      <p:italic r:id="rId19"/>
      <p:boldItalic r:id="rId20"/>
    </p:embeddedFont>
    <p:embeddedFont>
      <p:font typeface="Squada One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5d2cabac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09" name="Google Shape;109;g55d2cabac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5709524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15" name="Google Shape;115;g55709524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70442D22-3131-9D4C-D7EA-6149A74A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5d16254f0_1_2:notes">
            <a:extLst>
              <a:ext uri="{FF2B5EF4-FFF2-40B4-BE49-F238E27FC236}">
                <a16:creationId xmlns:a16="http://schemas.microsoft.com/office/drawing/2014/main" id="{20DA09D6-6E8D-DCD2-6427-C6B191DFA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28" name="Google Shape;128;g55d16254f0_1_2:notes">
            <a:extLst>
              <a:ext uri="{FF2B5EF4-FFF2-40B4-BE49-F238E27FC236}">
                <a16:creationId xmlns:a16="http://schemas.microsoft.com/office/drawing/2014/main" id="{447898BC-38CD-78C9-9A0F-8CF55AB48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3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43C8E314-947E-5FEE-FEEA-C31DD898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57095241f_0_136:notes">
            <a:extLst>
              <a:ext uri="{FF2B5EF4-FFF2-40B4-BE49-F238E27FC236}">
                <a16:creationId xmlns:a16="http://schemas.microsoft.com/office/drawing/2014/main" id="{E31DE2B7-BFB8-E174-8713-9D85543BF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28" name="Google Shape;228;g557095241f_0_136:notes">
            <a:extLst>
              <a:ext uri="{FF2B5EF4-FFF2-40B4-BE49-F238E27FC236}">
                <a16:creationId xmlns:a16="http://schemas.microsoft.com/office/drawing/2014/main" id="{A549DA54-7584-C793-8AA7-98741663B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730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A223B489-BBA2-1AEF-8BCB-1B75B6A7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57095241f_0_136:notes">
            <a:extLst>
              <a:ext uri="{FF2B5EF4-FFF2-40B4-BE49-F238E27FC236}">
                <a16:creationId xmlns:a16="http://schemas.microsoft.com/office/drawing/2014/main" id="{85894C46-C2E1-2422-55A7-BEF9916C4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28" name="Google Shape;228;g557095241f_0_136:notes">
            <a:extLst>
              <a:ext uri="{FF2B5EF4-FFF2-40B4-BE49-F238E27FC236}">
                <a16:creationId xmlns:a16="http://schemas.microsoft.com/office/drawing/2014/main" id="{0B7211A0-B40A-1174-499E-6C86AEC7A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870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557095241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72" name="Google Shape;272;g557095241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OPENING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t="1254"/>
          <a:stretch/>
        </p:blipFill>
        <p:spPr>
          <a:xfrm>
            <a:off x="75" y="0"/>
            <a:ext cx="9144000" cy="507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flipH="1">
            <a:off x="2750257" y="3636375"/>
            <a:ext cx="36435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1690457" y="204001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051807" y="25014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 idx="2"/>
          </p:nvPr>
        </p:nvSpPr>
        <p:spPr>
          <a:xfrm>
            <a:off x="1690457" y="3587138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 idx="4"/>
          </p:nvPr>
        </p:nvSpPr>
        <p:spPr>
          <a:xfrm>
            <a:off x="4824357" y="204001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5"/>
          </p:nvPr>
        </p:nvSpPr>
        <p:spPr>
          <a:xfrm>
            <a:off x="5185707" y="25014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6"/>
          </p:nvPr>
        </p:nvSpPr>
        <p:spPr>
          <a:xfrm>
            <a:off x="4824357" y="3587138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161943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316656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161943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316656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cxnSp>
        <p:nvCxnSpPr>
          <p:cNvPr id="28" name="Google Shape;28;p3"/>
          <p:cNvCxnSpPr/>
          <p:nvPr/>
        </p:nvCxnSpPr>
        <p:spPr>
          <a:xfrm>
            <a:off x="2273400" y="2242363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9;p3"/>
          <p:cNvCxnSpPr/>
          <p:nvPr/>
        </p:nvCxnSpPr>
        <p:spPr>
          <a:xfrm>
            <a:off x="2273400" y="3804313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CUSTOM_2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>
            <a:off x="-100" y="1"/>
            <a:ext cx="2218277" cy="20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+ TEXT">
  <p:cSld name="CUSTOM_2_1_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>
            <a:off x="-100" y="1"/>
            <a:ext cx="2218277" cy="20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603225" y="2224175"/>
            <a:ext cx="2058600" cy="902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2" hasCustomPrompt="1"/>
          </p:nvPr>
        </p:nvSpPr>
        <p:spPr>
          <a:xfrm>
            <a:off x="6786025" y="2341875"/>
            <a:ext cx="1692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6679232" y="27592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439025" y="2224175"/>
            <a:ext cx="2058600" cy="902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3" hasCustomPrompt="1"/>
          </p:nvPr>
        </p:nvSpPr>
        <p:spPr>
          <a:xfrm>
            <a:off x="4621825" y="2341875"/>
            <a:ext cx="1692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4515032" y="27592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603225" y="3249050"/>
            <a:ext cx="2058600" cy="902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 idx="5" hasCustomPrompt="1"/>
          </p:nvPr>
        </p:nvSpPr>
        <p:spPr>
          <a:xfrm>
            <a:off x="6786025" y="3366750"/>
            <a:ext cx="1692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6"/>
          </p:nvPr>
        </p:nvSpPr>
        <p:spPr>
          <a:xfrm>
            <a:off x="6679232" y="37841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439025" y="3249050"/>
            <a:ext cx="2058600" cy="902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 idx="7" hasCustomPrompt="1"/>
          </p:nvPr>
        </p:nvSpPr>
        <p:spPr>
          <a:xfrm>
            <a:off x="4621825" y="3366750"/>
            <a:ext cx="1692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8"/>
          </p:nvPr>
        </p:nvSpPr>
        <p:spPr>
          <a:xfrm>
            <a:off x="4515032" y="37841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515950" y="1321325"/>
            <a:ext cx="2058600" cy="902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 idx="9" hasCustomPrompt="1"/>
          </p:nvPr>
        </p:nvSpPr>
        <p:spPr>
          <a:xfrm>
            <a:off x="1698750" y="1439025"/>
            <a:ext cx="1692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Extra Condensed Medium"/>
              <a:buNone/>
              <a:defRPr sz="48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3"/>
          </p:nvPr>
        </p:nvSpPr>
        <p:spPr>
          <a:xfrm>
            <a:off x="1591957" y="18563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2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 rot="10800000">
            <a:off x="6925725" y="3063401"/>
            <a:ext cx="2218277" cy="20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>
            <a:off x="-100" y="1"/>
            <a:ext cx="2218277" cy="20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4837607" y="238785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l="5517" t="7541" r="39802" b="1482"/>
          <a:stretch/>
        </p:blipFill>
        <p:spPr>
          <a:xfrm rot="10800000">
            <a:off x="5457877" y="1699550"/>
            <a:ext cx="3683323" cy="34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1397425" y="2809300"/>
            <a:ext cx="3012600" cy="17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444375" y="2693550"/>
            <a:ext cx="17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7"/>
          <p:cNvSpPr txBox="1">
            <a:spLocks noGrp="1"/>
          </p:cNvSpPr>
          <p:nvPr>
            <p:ph type="ctrTitle"/>
          </p:nvPr>
        </p:nvSpPr>
        <p:spPr>
          <a:xfrm flipH="1">
            <a:off x="2714084" y="1890188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78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CUSTOM_7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 flipH="1">
            <a:off x="6925725" y="1"/>
            <a:ext cx="2218277" cy="20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>
            <a:spLocks noGrp="1"/>
          </p:cNvSpPr>
          <p:nvPr>
            <p:ph type="ctrTitle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7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ctrTitle"/>
          </p:nvPr>
        </p:nvSpPr>
        <p:spPr>
          <a:xfrm>
            <a:off x="1690457" y="190831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ctrTitle" idx="2"/>
          </p:nvPr>
        </p:nvSpPr>
        <p:spPr>
          <a:xfrm>
            <a:off x="1690457" y="341026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3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ctrTitle" idx="4"/>
          </p:nvPr>
        </p:nvSpPr>
        <p:spPr>
          <a:xfrm>
            <a:off x="4824357" y="190831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 l="5517" t="7179" r="39802" b="1479"/>
          <a:stretch/>
        </p:blipFill>
        <p:spPr>
          <a:xfrm flipH="1">
            <a:off x="6925725" y="1"/>
            <a:ext cx="2218277" cy="20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>
            <a:spLocks noGrp="1"/>
          </p:cNvSpPr>
          <p:nvPr>
            <p:ph type="subTitle" idx="5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ctrTitle" idx="6"/>
          </p:nvPr>
        </p:nvSpPr>
        <p:spPr>
          <a:xfrm>
            <a:off x="4824357" y="341026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7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02" name="Google Shape;102;p13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3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3"/>
          <p:cNvSpPr txBox="1">
            <a:spLocks noGrp="1"/>
          </p:cNvSpPr>
          <p:nvPr>
            <p:ph type="ctrTitle" idx="8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9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0A08E"/>
            </a:gs>
            <a:gs pos="0">
              <a:srgbClr val="6984C4"/>
            </a:gs>
            <a:gs pos="33000">
              <a:srgbClr val="6045AD"/>
            </a:gs>
            <a:gs pos="100000">
              <a:srgbClr val="570596"/>
            </a:gs>
            <a:gs pos="100000">
              <a:srgbClr val="613FB8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Squada One"/>
              <a:buNone/>
              <a:defRPr sz="2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Condensed Light"/>
              <a:buChar char="●"/>
              <a:defRPr sz="1800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3438" y="0"/>
            <a:ext cx="789713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 l="-2438" t="-20" b="20"/>
          <a:stretch/>
        </p:blipFill>
        <p:spPr>
          <a:xfrm>
            <a:off x="7817000" y="4763875"/>
            <a:ext cx="1327000" cy="3796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8" r:id="rId7"/>
    <p:sldLayoutId id="2147483659" r:id="rId8"/>
    <p:sldLayoutId id="2147483660" r:id="rId9"/>
    <p:sldLayoutId id="2147483661" r:id="rId10"/>
  </p:sldLayoutIdLst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genha.com/blog/empregos-e-carreiras-em-engenharia-mecanica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rasildefato.com.br/2020/06/05/cascavel-e-cidade-do-pr-com-maior-crescimento-dos-numeros-de-covid-19-diz-pesquisa" TargetMode="External"/><Relationship Id="rId5" Type="http://schemas.openxmlformats.org/officeDocument/2006/relationships/image" Target="../media/image9.jpeg"/><Relationship Id="rId4" Type="http://schemas.openxmlformats.org/officeDocument/2006/relationships/hyperlink" Target="https://es.wikipedia.org/wiki/Organizaci%C3%B3n_territorial_de_Brasil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hyperlink" Target="https://www.facebook.com/normatizadigital/" TargetMode="External"/><Relationship Id="rId7" Type="http://schemas.openxmlformats.org/officeDocument/2006/relationships/hyperlink" Target="https://freepngimg.com/png/11876-email-p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hyperlink" Target="https://www.pngegg.com/en/search?q=icone+website" TargetMode="External"/><Relationship Id="rId5" Type="http://schemas.openxmlformats.org/officeDocument/2006/relationships/hyperlink" Target="https://www.instagram.com/normatiza_digital/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svgsilh.com/pt/image/3117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 flipH="1">
            <a:off x="1541100" y="4028275"/>
            <a:ext cx="60618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100" dirty="0"/>
              <a:t>A solução mais completa para gestão de NR-12</a:t>
            </a:r>
            <a:r>
              <a:rPr lang="pt-BR" sz="2400" dirty="0"/>
              <a:t>.</a:t>
            </a:r>
            <a:r>
              <a:rPr lang="es" sz="2100" dirty="0"/>
              <a:t> </a:t>
            </a:r>
            <a:endParaRPr sz="2100" dirty="0"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462" y="2735325"/>
            <a:ext cx="5557075" cy="16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0C03B03-09D1-4D20-F141-4CAA1C156247}"/>
              </a:ext>
            </a:extLst>
          </p:cNvPr>
          <p:cNvSpPr txBox="1"/>
          <p:nvPr/>
        </p:nvSpPr>
        <p:spPr>
          <a:xfrm>
            <a:off x="286439" y="4698775"/>
            <a:ext cx="234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15/07/2026</a:t>
            </a:r>
          </a:p>
        </p:txBody>
      </p:sp>
      <p:pic>
        <p:nvPicPr>
          <p:cNvPr id="4" name="Google Shape;217;p23">
            <a:extLst>
              <a:ext uri="{FF2B5EF4-FFF2-40B4-BE49-F238E27FC236}">
                <a16:creationId xmlns:a16="http://schemas.microsoft.com/office/drawing/2014/main" id="{2809694E-ED1C-2460-F1AC-5BE8A70B77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6251"/>
          <a:stretch/>
        </p:blipFill>
        <p:spPr>
          <a:xfrm rot="-960006">
            <a:off x="554539" y="95513"/>
            <a:ext cx="1724961" cy="2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subTitle" idx="1"/>
          </p:nvPr>
        </p:nvSpPr>
        <p:spPr>
          <a:xfrm>
            <a:off x="4749465" y="1257486"/>
            <a:ext cx="3811200" cy="19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endParaRPr lang="pt-BR" sz="1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/>
            <a:r>
              <a:rPr lang="pt-BR" sz="1800" b="1" dirty="0">
                <a:latin typeface="Roboto Condensed"/>
                <a:ea typeface="Roboto Condensed"/>
                <a:cs typeface="Roboto Condensed"/>
                <a:sym typeface="Roboto Condensed"/>
              </a:rPr>
              <a:t>Missão: </a:t>
            </a:r>
            <a:r>
              <a:rPr lang="pt-BR" sz="1800" dirty="0"/>
              <a:t>"Ser a referência em gestão inteligente da NR-12, transformando a conformidade legal em um diferencial competitivo, com inovação, engenharia e compromisso com a segurança das pessoas.”</a:t>
            </a:r>
          </a:p>
          <a:p>
            <a:pPr marL="0" lvl="0" indent="0" algn="just"/>
            <a:endParaRPr lang="pt-BR" sz="1800" dirty="0"/>
          </a:p>
          <a:p>
            <a:pPr marL="0" lvl="0" indent="0" algn="just"/>
            <a:r>
              <a:rPr lang="pt-BR" sz="1800" b="1" dirty="0">
                <a:latin typeface="Roboto Condensed"/>
                <a:ea typeface="Roboto Condensed"/>
                <a:cs typeface="Roboto Condensed"/>
                <a:sym typeface="Roboto Condensed"/>
              </a:rPr>
              <a:t>Valores: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ym typeface="Roboto Condensed"/>
              </a:rPr>
              <a:t>Segurança como valor;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ym typeface="Roboto Condensed"/>
              </a:rPr>
              <a:t>Excelência técnica;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ym typeface="Roboto Condensed"/>
              </a:rPr>
              <a:t>Compromisso com os resultados;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ym typeface="Roboto Condensed"/>
              </a:rPr>
              <a:t>Ética e transparência,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sym typeface="Roboto Condensed"/>
              </a:rPr>
              <a:t>Inovação contínua.</a:t>
            </a:r>
          </a:p>
          <a:p>
            <a:pPr marL="0" lvl="0" indent="0" algn="just"/>
            <a:endParaRPr sz="18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8" name="Google Shape;118;p17"/>
          <p:cNvSpPr txBox="1">
            <a:spLocks noGrp="1"/>
          </p:cNvSpPr>
          <p:nvPr>
            <p:ph type="ctrTitle"/>
          </p:nvPr>
        </p:nvSpPr>
        <p:spPr>
          <a:xfrm flipH="1">
            <a:off x="844350" y="2032075"/>
            <a:ext cx="34551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 dirty="0">
                <a:latin typeface="Roboto Condensed"/>
                <a:ea typeface="Roboto Condensed"/>
                <a:cs typeface="Roboto Condensed"/>
                <a:sym typeface="Roboto Condensed"/>
              </a:rPr>
              <a:t>Quem Somos</a:t>
            </a:r>
            <a:endParaRPr sz="4500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F06B2C33-A565-6085-4EFF-8ECD0B5E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>
            <a:extLst>
              <a:ext uri="{FF2B5EF4-FFF2-40B4-BE49-F238E27FC236}">
                <a16:creationId xmlns:a16="http://schemas.microsoft.com/office/drawing/2014/main" id="{C51CBAB8-F380-4C4E-E0CD-B1445AEF3A35}"/>
              </a:ext>
            </a:extLst>
          </p:cNvPr>
          <p:cNvSpPr txBox="1">
            <a:spLocks noGrp="1"/>
          </p:cNvSpPr>
          <p:nvPr>
            <p:ph type="ctrTitle" idx="8"/>
          </p:nvPr>
        </p:nvSpPr>
        <p:spPr>
          <a:xfrm>
            <a:off x="946500" y="401450"/>
            <a:ext cx="7251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1" dirty="0">
                <a:latin typeface="Roboto Condensed"/>
                <a:ea typeface="Roboto Condensed"/>
                <a:cs typeface="Roboto Condensed"/>
                <a:sym typeface="Roboto Condensed"/>
              </a:rPr>
              <a:t>O QUE FAZEMOS</a:t>
            </a:r>
            <a:endParaRPr sz="42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4240C4D4-E9F8-4249-BCB8-E2466FC78C88}"/>
              </a:ext>
            </a:extLst>
          </p:cNvPr>
          <p:cNvSpPr/>
          <p:nvPr/>
        </p:nvSpPr>
        <p:spPr>
          <a:xfrm>
            <a:off x="1193035" y="2302525"/>
            <a:ext cx="1407956" cy="137710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200" dirty="0" err="1"/>
              <a:t>Diagnóstico</a:t>
            </a:r>
            <a:r>
              <a:rPr lang="pt-BR" sz="1200" dirty="0"/>
              <a:t>:</a:t>
            </a:r>
            <a:endParaRPr sz="1200" dirty="0"/>
          </a:p>
          <a:p>
            <a:pPr>
              <a:defRPr sz="1400"/>
            </a:pPr>
            <a:r>
              <a:rPr sz="1200" dirty="0"/>
              <a:t>• </a:t>
            </a:r>
            <a:r>
              <a:rPr sz="1200" dirty="0" err="1"/>
              <a:t>Inventário</a:t>
            </a:r>
            <a:r>
              <a:rPr sz="1200" dirty="0"/>
              <a:t> de </a:t>
            </a:r>
            <a:r>
              <a:rPr sz="1200" dirty="0" err="1"/>
              <a:t>máquinas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Cadastro</a:t>
            </a:r>
            <a:r>
              <a:rPr sz="1200" dirty="0"/>
              <a:t> NR-12</a:t>
            </a:r>
            <a:endParaRPr lang="pt-BR" sz="1200" dirty="0"/>
          </a:p>
          <a:p>
            <a:pPr>
              <a:defRPr sz="1400"/>
            </a:pPr>
            <a:r>
              <a:rPr lang="pt-BR" sz="1200" dirty="0"/>
              <a:t>• Auditorias NR 12</a:t>
            </a:r>
            <a:endParaRPr sz="1200" dirty="0"/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27BFEFBD-C69B-76D3-6CD1-7891C7D29A49}"/>
              </a:ext>
            </a:extLst>
          </p:cNvPr>
          <p:cNvSpPr/>
          <p:nvPr/>
        </p:nvSpPr>
        <p:spPr>
          <a:xfrm>
            <a:off x="3033494" y="2291507"/>
            <a:ext cx="1407956" cy="137710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200" dirty="0" err="1"/>
              <a:t>Análise</a:t>
            </a:r>
            <a:r>
              <a:rPr sz="1200" dirty="0"/>
              <a:t> de </a:t>
            </a:r>
            <a:r>
              <a:rPr sz="1200" dirty="0" err="1"/>
              <a:t>Riscos</a:t>
            </a:r>
            <a:endParaRPr sz="1200" dirty="0"/>
          </a:p>
          <a:p>
            <a:pPr>
              <a:defRPr sz="1400"/>
            </a:pPr>
            <a:r>
              <a:rPr sz="1200" dirty="0"/>
              <a:t>• NR-12 e NBR</a:t>
            </a:r>
            <a:r>
              <a:rPr lang="pt-BR" sz="1200" dirty="0"/>
              <a:t> ISO</a:t>
            </a:r>
            <a:r>
              <a:rPr sz="1200" dirty="0"/>
              <a:t> 12100</a:t>
            </a:r>
            <a:br>
              <a:rPr sz="1200" dirty="0"/>
            </a:br>
            <a:r>
              <a:rPr sz="1200" dirty="0"/>
              <a:t>•</a:t>
            </a:r>
            <a:r>
              <a:rPr lang="pt-BR" sz="1200" dirty="0"/>
              <a:t>  D</a:t>
            </a:r>
            <a:r>
              <a:rPr sz="1200" dirty="0" err="1"/>
              <a:t>ocumentação</a:t>
            </a:r>
            <a:r>
              <a:rPr sz="1200" dirty="0"/>
              <a:t> </a:t>
            </a:r>
            <a:r>
              <a:rPr sz="1200" dirty="0" err="1"/>
              <a:t>técnica</a:t>
            </a:r>
            <a:endParaRPr sz="1200" dirty="0"/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291A0CED-B6B2-0E40-54FE-81DC1B671347}"/>
              </a:ext>
            </a:extLst>
          </p:cNvPr>
          <p:cNvSpPr/>
          <p:nvPr/>
        </p:nvSpPr>
        <p:spPr>
          <a:xfrm>
            <a:off x="4919031" y="2302525"/>
            <a:ext cx="1407956" cy="137710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200" dirty="0" err="1"/>
              <a:t>Gestão</a:t>
            </a:r>
            <a:endParaRPr sz="1200" dirty="0"/>
          </a:p>
          <a:p>
            <a:pPr>
              <a:defRPr sz="1400"/>
            </a:pPr>
            <a:r>
              <a:rPr sz="1200" dirty="0"/>
              <a:t>• Plano de </a:t>
            </a:r>
            <a:r>
              <a:rPr sz="1200" dirty="0" err="1"/>
              <a:t>ação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Indicadores</a:t>
            </a:r>
            <a:endParaRPr sz="1200" dirty="0"/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7D00A31A-8323-1339-3EC9-25C7FD59C132}"/>
              </a:ext>
            </a:extLst>
          </p:cNvPr>
          <p:cNvSpPr/>
          <p:nvPr/>
        </p:nvSpPr>
        <p:spPr>
          <a:xfrm>
            <a:off x="6804567" y="2302525"/>
            <a:ext cx="1407956" cy="137710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200" dirty="0"/>
              <a:t>Plataforma</a:t>
            </a:r>
          </a:p>
          <a:p>
            <a:pPr>
              <a:defRPr sz="1400"/>
            </a:pPr>
            <a:r>
              <a:rPr sz="1200" dirty="0"/>
              <a:t>• APP </a:t>
            </a:r>
            <a:r>
              <a:rPr sz="1200" dirty="0" err="1"/>
              <a:t>em</a:t>
            </a:r>
            <a:r>
              <a:rPr sz="1200" dirty="0"/>
              <a:t> campo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Relatórios</a:t>
            </a:r>
            <a:r>
              <a:rPr lang="pt-BR" sz="1200" dirty="0"/>
              <a:t> personalizados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Gestão</a:t>
            </a:r>
            <a:r>
              <a:rPr sz="1200" dirty="0"/>
              <a:t> </a:t>
            </a:r>
            <a:r>
              <a:rPr sz="1200" dirty="0" err="1"/>
              <a:t>em</a:t>
            </a:r>
            <a:r>
              <a:rPr sz="1200" dirty="0"/>
              <a:t> tempo real</a:t>
            </a:r>
          </a:p>
        </p:txBody>
      </p:sp>
      <p:pic>
        <p:nvPicPr>
          <p:cNvPr id="35" name="Google Shape;166;p21">
            <a:extLst>
              <a:ext uri="{FF2B5EF4-FFF2-40B4-BE49-F238E27FC236}">
                <a16:creationId xmlns:a16="http://schemas.microsoft.com/office/drawing/2014/main" id="{2F215774-C8FF-29CF-539C-59C729A41E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1986" r="8242" b="4039"/>
          <a:stretch/>
        </p:blipFill>
        <p:spPr>
          <a:xfrm rot="959990">
            <a:off x="7304288" y="181352"/>
            <a:ext cx="1383510" cy="1957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376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F0E2BCE-A56A-2EE4-7FF4-0DFC6630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>
            <a:extLst>
              <a:ext uri="{FF2B5EF4-FFF2-40B4-BE49-F238E27FC236}">
                <a16:creationId xmlns:a16="http://schemas.microsoft.com/office/drawing/2014/main" id="{69411974-EBB9-62F2-FD04-D7EBE21BC9F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445350" y="304600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 dirty="0">
                <a:latin typeface="Roboto Condensed"/>
                <a:ea typeface="Roboto Condensed"/>
                <a:cs typeface="Roboto Condensed"/>
                <a:sym typeface="Roboto Condensed"/>
              </a:rPr>
              <a:t>DIFERENCIAIS</a:t>
            </a:r>
            <a:endParaRPr sz="42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1" name="Google Shape;231;p25">
            <a:extLst>
              <a:ext uri="{FF2B5EF4-FFF2-40B4-BE49-F238E27FC236}">
                <a16:creationId xmlns:a16="http://schemas.microsoft.com/office/drawing/2014/main" id="{85E533A7-F6CB-47CD-9204-B7109E1BDE1F}"/>
              </a:ext>
            </a:extLst>
          </p:cNvPr>
          <p:cNvSpPr/>
          <p:nvPr/>
        </p:nvSpPr>
        <p:spPr>
          <a:xfrm>
            <a:off x="6812658" y="1273103"/>
            <a:ext cx="780795" cy="3697040"/>
          </a:xfrm>
          <a:custGeom>
            <a:avLst/>
            <a:gdLst/>
            <a:ahLst/>
            <a:cxnLst/>
            <a:rect l="l" t="t" r="r" b="b"/>
            <a:pathLst>
              <a:path w="1178559" h="6814820" extrusionOk="0">
                <a:moveTo>
                  <a:pt x="589000" y="0"/>
                </a:moveTo>
                <a:lnTo>
                  <a:pt x="0" y="408266"/>
                </a:lnTo>
                <a:lnTo>
                  <a:pt x="0" y="6814413"/>
                </a:lnTo>
                <a:lnTo>
                  <a:pt x="1178001" y="6814413"/>
                </a:lnTo>
                <a:lnTo>
                  <a:pt x="1178001" y="408266"/>
                </a:lnTo>
                <a:lnTo>
                  <a:pt x="58900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1176"/>
                </a:srgbClr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232" name="Google Shape;232;p25">
            <a:extLst>
              <a:ext uri="{FF2B5EF4-FFF2-40B4-BE49-F238E27FC236}">
                <a16:creationId xmlns:a16="http://schemas.microsoft.com/office/drawing/2014/main" id="{0EBF911B-6C1C-DC06-F05D-B94FD2246E5B}"/>
              </a:ext>
            </a:extLst>
          </p:cNvPr>
          <p:cNvSpPr/>
          <p:nvPr/>
        </p:nvSpPr>
        <p:spPr>
          <a:xfrm>
            <a:off x="6400493" y="1994211"/>
            <a:ext cx="780795" cy="2975929"/>
          </a:xfrm>
          <a:custGeom>
            <a:avLst/>
            <a:gdLst/>
            <a:ahLst/>
            <a:cxnLst/>
            <a:rect l="l" t="t" r="r" b="b"/>
            <a:pathLst>
              <a:path w="1178559" h="5280025" extrusionOk="0">
                <a:moveTo>
                  <a:pt x="589000" y="0"/>
                </a:moveTo>
                <a:lnTo>
                  <a:pt x="0" y="408266"/>
                </a:lnTo>
                <a:lnTo>
                  <a:pt x="0" y="5279859"/>
                </a:lnTo>
                <a:lnTo>
                  <a:pt x="1178001" y="5279859"/>
                </a:lnTo>
                <a:lnTo>
                  <a:pt x="1178001" y="408266"/>
                </a:lnTo>
                <a:lnTo>
                  <a:pt x="58900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1176"/>
                </a:srgbClr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233" name="Google Shape;233;p25">
            <a:extLst>
              <a:ext uri="{FF2B5EF4-FFF2-40B4-BE49-F238E27FC236}">
                <a16:creationId xmlns:a16="http://schemas.microsoft.com/office/drawing/2014/main" id="{327FC940-8EF0-2B0E-85AA-BB499A71A746}"/>
              </a:ext>
            </a:extLst>
          </p:cNvPr>
          <p:cNvSpPr/>
          <p:nvPr/>
        </p:nvSpPr>
        <p:spPr>
          <a:xfrm>
            <a:off x="6032948" y="2727059"/>
            <a:ext cx="780795" cy="2243081"/>
          </a:xfrm>
          <a:custGeom>
            <a:avLst/>
            <a:gdLst/>
            <a:ahLst/>
            <a:cxnLst/>
            <a:rect l="l" t="t" r="r" b="b"/>
            <a:pathLst>
              <a:path w="1178559" h="3884929" extrusionOk="0">
                <a:moveTo>
                  <a:pt x="589000" y="0"/>
                </a:moveTo>
                <a:lnTo>
                  <a:pt x="0" y="408266"/>
                </a:lnTo>
                <a:lnTo>
                  <a:pt x="0" y="3884307"/>
                </a:lnTo>
                <a:lnTo>
                  <a:pt x="1178001" y="3884307"/>
                </a:lnTo>
                <a:lnTo>
                  <a:pt x="1178001" y="408266"/>
                </a:lnTo>
                <a:lnTo>
                  <a:pt x="58900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1176"/>
                </a:srgbClr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cxnSp>
        <p:nvCxnSpPr>
          <p:cNvPr id="234" name="Google Shape;234;p25">
            <a:extLst>
              <a:ext uri="{FF2B5EF4-FFF2-40B4-BE49-F238E27FC236}">
                <a16:creationId xmlns:a16="http://schemas.microsoft.com/office/drawing/2014/main" id="{768B6872-2A18-4D4A-1249-5521F8AE8603}"/>
              </a:ext>
            </a:extLst>
          </p:cNvPr>
          <p:cNvCxnSpPr/>
          <p:nvPr/>
        </p:nvCxnSpPr>
        <p:spPr>
          <a:xfrm rot="10800000">
            <a:off x="4139082" y="3940738"/>
            <a:ext cx="151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diamond" w="sm" len="sm"/>
          </a:ln>
        </p:spPr>
      </p:cxnSp>
      <p:sp>
        <p:nvSpPr>
          <p:cNvPr id="235" name="Google Shape;235;p25">
            <a:extLst>
              <a:ext uri="{FF2B5EF4-FFF2-40B4-BE49-F238E27FC236}">
                <a16:creationId xmlns:a16="http://schemas.microsoft.com/office/drawing/2014/main" id="{37BC1FA0-5E92-7476-DF08-63F6AF96F9D2}"/>
              </a:ext>
            </a:extLst>
          </p:cNvPr>
          <p:cNvSpPr/>
          <p:nvPr/>
        </p:nvSpPr>
        <p:spPr>
          <a:xfrm>
            <a:off x="5675249" y="3395203"/>
            <a:ext cx="780795" cy="1574931"/>
          </a:xfrm>
          <a:custGeom>
            <a:avLst/>
            <a:gdLst/>
            <a:ahLst/>
            <a:cxnLst/>
            <a:rect l="l" t="t" r="r" b="b"/>
            <a:pathLst>
              <a:path w="1178559" h="2613025" extrusionOk="0">
                <a:moveTo>
                  <a:pt x="589000" y="0"/>
                </a:moveTo>
                <a:lnTo>
                  <a:pt x="0" y="408254"/>
                </a:lnTo>
                <a:lnTo>
                  <a:pt x="0" y="2612885"/>
                </a:lnTo>
                <a:lnTo>
                  <a:pt x="1178001" y="2612885"/>
                </a:lnTo>
                <a:lnTo>
                  <a:pt x="1178001" y="408254"/>
                </a:lnTo>
                <a:lnTo>
                  <a:pt x="58900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1176"/>
                </a:srgbClr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cxnSp>
        <p:nvCxnSpPr>
          <p:cNvPr id="236" name="Google Shape;236;p25">
            <a:extLst>
              <a:ext uri="{FF2B5EF4-FFF2-40B4-BE49-F238E27FC236}">
                <a16:creationId xmlns:a16="http://schemas.microsoft.com/office/drawing/2014/main" id="{4E877F04-BEE7-7F64-B394-034699F09116}"/>
              </a:ext>
            </a:extLst>
          </p:cNvPr>
          <p:cNvCxnSpPr/>
          <p:nvPr/>
        </p:nvCxnSpPr>
        <p:spPr>
          <a:xfrm rot="10800000">
            <a:off x="4116888" y="3158274"/>
            <a:ext cx="190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diamond" w="sm" len="sm"/>
          </a:ln>
        </p:spPr>
      </p:cxnSp>
      <p:cxnSp>
        <p:nvCxnSpPr>
          <p:cNvPr id="237" name="Google Shape;237;p25">
            <a:extLst>
              <a:ext uri="{FF2B5EF4-FFF2-40B4-BE49-F238E27FC236}">
                <a16:creationId xmlns:a16="http://schemas.microsoft.com/office/drawing/2014/main" id="{41ED2E3D-0681-866D-B619-ED59B92C78FC}"/>
              </a:ext>
            </a:extLst>
          </p:cNvPr>
          <p:cNvCxnSpPr/>
          <p:nvPr/>
        </p:nvCxnSpPr>
        <p:spPr>
          <a:xfrm rot="10800000">
            <a:off x="4138975" y="2457932"/>
            <a:ext cx="229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diamond" w="sm" len="sm"/>
          </a:ln>
        </p:spPr>
      </p:cxnSp>
      <p:cxnSp>
        <p:nvCxnSpPr>
          <p:cNvPr id="238" name="Google Shape;238;p25">
            <a:extLst>
              <a:ext uri="{FF2B5EF4-FFF2-40B4-BE49-F238E27FC236}">
                <a16:creationId xmlns:a16="http://schemas.microsoft.com/office/drawing/2014/main" id="{C30E1899-B471-9DB7-90DB-6F791C4CAABE}"/>
              </a:ext>
            </a:extLst>
          </p:cNvPr>
          <p:cNvCxnSpPr/>
          <p:nvPr/>
        </p:nvCxnSpPr>
        <p:spPr>
          <a:xfrm rot="10800000">
            <a:off x="4138663" y="1687385"/>
            <a:ext cx="268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diamond" w="sm" len="sm"/>
          </a:ln>
        </p:spPr>
      </p:cxnSp>
      <p:sp>
        <p:nvSpPr>
          <p:cNvPr id="239" name="Google Shape;239;p25">
            <a:extLst>
              <a:ext uri="{FF2B5EF4-FFF2-40B4-BE49-F238E27FC236}">
                <a16:creationId xmlns:a16="http://schemas.microsoft.com/office/drawing/2014/main" id="{917697EF-2D1D-1B6D-1717-A30035F052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42750" y="1350325"/>
            <a:ext cx="3796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dirty="0"/>
              <a:t>AUMENTO DE RENTABILIDADE E DIMINUIÇÃO DE CUSTOS</a:t>
            </a:r>
            <a:endParaRPr sz="1600" dirty="0"/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240" name="Google Shape;240;p25">
            <a:extLst>
              <a:ext uri="{FF2B5EF4-FFF2-40B4-BE49-F238E27FC236}">
                <a16:creationId xmlns:a16="http://schemas.microsoft.com/office/drawing/2014/main" id="{F9649F03-366A-DB7C-807A-2E50B995A3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91521" y="2263638"/>
            <a:ext cx="41976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dirty="0"/>
              <a:t>AGILIDADE E RAPIDEZ – REDUÇÃO DE 90% NO TEMPO DE ANÁLISES E DOCUMENTAÇÕES</a:t>
            </a:r>
            <a:endParaRPr sz="1600" dirty="0"/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241" name="Google Shape;241;p25">
            <a:extLst>
              <a:ext uri="{FF2B5EF4-FFF2-40B4-BE49-F238E27FC236}">
                <a16:creationId xmlns:a16="http://schemas.microsoft.com/office/drawing/2014/main" id="{F8E5977D-52D2-7DC5-478B-B306449D473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8521" y="2992766"/>
            <a:ext cx="41976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dirty="0"/>
              <a:t>ORGANIZAÇÃO E GESTÃO INTELIGENTE</a:t>
            </a:r>
            <a:endParaRPr sz="1600" dirty="0"/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242" name="Google Shape;242;p25">
            <a:extLst>
              <a:ext uri="{FF2B5EF4-FFF2-40B4-BE49-F238E27FC236}">
                <a16:creationId xmlns:a16="http://schemas.microsoft.com/office/drawing/2014/main" id="{9B47FD64-806E-6EE8-4A34-50ACB9B6668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8521" y="3721895"/>
            <a:ext cx="41976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dirty="0"/>
              <a:t>ECONOMIA DE TEMPO</a:t>
            </a:r>
            <a:endParaRPr sz="1600" dirty="0"/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grpSp>
        <p:nvGrpSpPr>
          <p:cNvPr id="243" name="Google Shape;243;p25">
            <a:extLst>
              <a:ext uri="{FF2B5EF4-FFF2-40B4-BE49-F238E27FC236}">
                <a16:creationId xmlns:a16="http://schemas.microsoft.com/office/drawing/2014/main" id="{B61713B2-08ED-A1EE-6C37-65B62F3240EB}"/>
              </a:ext>
            </a:extLst>
          </p:cNvPr>
          <p:cNvGrpSpPr/>
          <p:nvPr/>
        </p:nvGrpSpPr>
        <p:grpSpPr>
          <a:xfrm>
            <a:off x="6994585" y="1514205"/>
            <a:ext cx="416939" cy="346357"/>
            <a:chOff x="2508825" y="2318350"/>
            <a:chExt cx="297750" cy="295400"/>
          </a:xfrm>
        </p:grpSpPr>
        <p:sp>
          <p:nvSpPr>
            <p:cNvPr id="244" name="Google Shape;244;p25">
              <a:extLst>
                <a:ext uri="{FF2B5EF4-FFF2-40B4-BE49-F238E27FC236}">
                  <a16:creationId xmlns:a16="http://schemas.microsoft.com/office/drawing/2014/main" id="{D6A2CFE1-F394-B545-BC57-611606B8C50F}"/>
                </a:ext>
              </a:extLst>
            </p:cNvPr>
            <p:cNvSpPr/>
            <p:nvPr/>
          </p:nvSpPr>
          <p:spPr>
            <a:xfrm>
              <a:off x="2508825" y="2318350"/>
              <a:ext cx="297750" cy="295400"/>
            </a:xfrm>
            <a:custGeom>
              <a:avLst/>
              <a:gdLst/>
              <a:ahLst/>
              <a:cxnLst/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5">
              <a:extLst>
                <a:ext uri="{FF2B5EF4-FFF2-40B4-BE49-F238E27FC236}">
                  <a16:creationId xmlns:a16="http://schemas.microsoft.com/office/drawing/2014/main" id="{AB1B9FD3-F81B-246E-55AD-BA6898266AE9}"/>
                </a:ext>
              </a:extLst>
            </p:cNvPr>
            <p:cNvSpPr/>
            <p:nvPr/>
          </p:nvSpPr>
          <p:spPr>
            <a:xfrm>
              <a:off x="2629350" y="2353025"/>
              <a:ext cx="54350" cy="121300"/>
            </a:xfrm>
            <a:custGeom>
              <a:avLst/>
              <a:gdLst/>
              <a:ahLst/>
              <a:cxnLst/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25">
            <a:extLst>
              <a:ext uri="{FF2B5EF4-FFF2-40B4-BE49-F238E27FC236}">
                <a16:creationId xmlns:a16="http://schemas.microsoft.com/office/drawing/2014/main" id="{07762A31-7D19-3946-23CE-BA19553BF223}"/>
              </a:ext>
            </a:extLst>
          </p:cNvPr>
          <p:cNvGrpSpPr/>
          <p:nvPr/>
        </p:nvGrpSpPr>
        <p:grpSpPr>
          <a:xfrm>
            <a:off x="5858279" y="3800270"/>
            <a:ext cx="414734" cy="347265"/>
            <a:chOff x="3963575" y="2317575"/>
            <a:chExt cx="296175" cy="296175"/>
          </a:xfrm>
        </p:grpSpPr>
        <p:sp>
          <p:nvSpPr>
            <p:cNvPr id="247" name="Google Shape;247;p25">
              <a:extLst>
                <a:ext uri="{FF2B5EF4-FFF2-40B4-BE49-F238E27FC236}">
                  <a16:creationId xmlns:a16="http://schemas.microsoft.com/office/drawing/2014/main" id="{1C841F11-B0B1-7E2F-1993-BDDF3AB56A49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5">
              <a:extLst>
                <a:ext uri="{FF2B5EF4-FFF2-40B4-BE49-F238E27FC236}">
                  <a16:creationId xmlns:a16="http://schemas.microsoft.com/office/drawing/2014/main" id="{6FEB77A5-57D6-007B-1EFC-C7CCD46BABEE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5">
              <a:extLst>
                <a:ext uri="{FF2B5EF4-FFF2-40B4-BE49-F238E27FC236}">
                  <a16:creationId xmlns:a16="http://schemas.microsoft.com/office/drawing/2014/main" id="{F8B50AD8-73E3-EBD0-FD2D-69D7638CF963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5">
              <a:extLst>
                <a:ext uri="{FF2B5EF4-FFF2-40B4-BE49-F238E27FC236}">
                  <a16:creationId xmlns:a16="http://schemas.microsoft.com/office/drawing/2014/main" id="{020BCECA-9B2B-CDDC-147D-2CE1FA1E4150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5">
              <a:extLst>
                <a:ext uri="{FF2B5EF4-FFF2-40B4-BE49-F238E27FC236}">
                  <a16:creationId xmlns:a16="http://schemas.microsoft.com/office/drawing/2014/main" id="{EB2F0CE8-11DA-06C5-FBC1-1D34F788E654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5">
              <a:extLst>
                <a:ext uri="{FF2B5EF4-FFF2-40B4-BE49-F238E27FC236}">
                  <a16:creationId xmlns:a16="http://schemas.microsoft.com/office/drawing/2014/main" id="{42938DC2-233D-69BD-7E89-06FD7A333C79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5">
              <a:extLst>
                <a:ext uri="{FF2B5EF4-FFF2-40B4-BE49-F238E27FC236}">
                  <a16:creationId xmlns:a16="http://schemas.microsoft.com/office/drawing/2014/main" id="{3FF3869C-6C43-7214-8E1C-E3F6273ED685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5">
              <a:extLst>
                <a:ext uri="{FF2B5EF4-FFF2-40B4-BE49-F238E27FC236}">
                  <a16:creationId xmlns:a16="http://schemas.microsoft.com/office/drawing/2014/main" id="{F58E536E-9AF4-0AAC-A75A-795A94BBD37F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5">
              <a:extLst>
                <a:ext uri="{FF2B5EF4-FFF2-40B4-BE49-F238E27FC236}">
                  <a16:creationId xmlns:a16="http://schemas.microsoft.com/office/drawing/2014/main" id="{A28B83EA-83B8-BB6A-60FD-DBA2EA7C8192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5">
              <a:extLst>
                <a:ext uri="{FF2B5EF4-FFF2-40B4-BE49-F238E27FC236}">
                  <a16:creationId xmlns:a16="http://schemas.microsoft.com/office/drawing/2014/main" id="{C9576485-556D-74BB-5B99-90DD98A532BE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5">
              <a:extLst>
                <a:ext uri="{FF2B5EF4-FFF2-40B4-BE49-F238E27FC236}">
                  <a16:creationId xmlns:a16="http://schemas.microsoft.com/office/drawing/2014/main" id="{EEF87127-E669-0CC7-B75B-A71F096DF662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5">
              <a:extLst>
                <a:ext uri="{FF2B5EF4-FFF2-40B4-BE49-F238E27FC236}">
                  <a16:creationId xmlns:a16="http://schemas.microsoft.com/office/drawing/2014/main" id="{EA0141F0-DC9F-ABEE-2BE9-9E05F87F21D8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5">
              <a:extLst>
                <a:ext uri="{FF2B5EF4-FFF2-40B4-BE49-F238E27FC236}">
                  <a16:creationId xmlns:a16="http://schemas.microsoft.com/office/drawing/2014/main" id="{F2456E3B-76E7-BDF0-4B13-194130B5E3C4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5">
              <a:extLst>
                <a:ext uri="{FF2B5EF4-FFF2-40B4-BE49-F238E27FC236}">
                  <a16:creationId xmlns:a16="http://schemas.microsoft.com/office/drawing/2014/main" id="{80CFB407-77C9-90A0-1891-E1023610D11C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5">
              <a:extLst>
                <a:ext uri="{FF2B5EF4-FFF2-40B4-BE49-F238E27FC236}">
                  <a16:creationId xmlns:a16="http://schemas.microsoft.com/office/drawing/2014/main" id="{F11B4A36-90FC-661D-2B38-580C8BE0DBD6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5">
              <a:extLst>
                <a:ext uri="{FF2B5EF4-FFF2-40B4-BE49-F238E27FC236}">
                  <a16:creationId xmlns:a16="http://schemas.microsoft.com/office/drawing/2014/main" id="{2EC1B7C1-3612-8D1B-A30D-4F9B22C41F43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5">
            <a:extLst>
              <a:ext uri="{FF2B5EF4-FFF2-40B4-BE49-F238E27FC236}">
                <a16:creationId xmlns:a16="http://schemas.microsoft.com/office/drawing/2014/main" id="{5441C133-C775-A17C-C1AF-9AA8A54F8648}"/>
              </a:ext>
            </a:extLst>
          </p:cNvPr>
          <p:cNvGrpSpPr/>
          <p:nvPr/>
        </p:nvGrpSpPr>
        <p:grpSpPr>
          <a:xfrm>
            <a:off x="6583523" y="2284768"/>
            <a:ext cx="414734" cy="346327"/>
            <a:chOff x="3962775" y="2683025"/>
            <a:chExt cx="296175" cy="295375"/>
          </a:xfrm>
        </p:grpSpPr>
        <p:sp>
          <p:nvSpPr>
            <p:cNvPr id="264" name="Google Shape;264;p25">
              <a:extLst>
                <a:ext uri="{FF2B5EF4-FFF2-40B4-BE49-F238E27FC236}">
                  <a16:creationId xmlns:a16="http://schemas.microsoft.com/office/drawing/2014/main" id="{94197B06-A69B-3685-98C9-B4B6CF4675AB}"/>
                </a:ext>
              </a:extLst>
            </p:cNvPr>
            <p:cNvSpPr/>
            <p:nvPr/>
          </p:nvSpPr>
          <p:spPr>
            <a:xfrm>
              <a:off x="3962775" y="2838200"/>
              <a:ext cx="296175" cy="140200"/>
            </a:xfrm>
            <a:custGeom>
              <a:avLst/>
              <a:gdLst/>
              <a:ahLst/>
              <a:cxnLst/>
              <a:rect l="l" t="t" r="r" b="b"/>
              <a:pathLst>
                <a:path w="11847" h="5608" extrusionOk="0">
                  <a:moveTo>
                    <a:pt x="3530" y="3466"/>
                  </a:moveTo>
                  <a:lnTo>
                    <a:pt x="3530" y="4883"/>
                  </a:lnTo>
                  <a:lnTo>
                    <a:pt x="757" y="4883"/>
                  </a:lnTo>
                  <a:lnTo>
                    <a:pt x="757" y="3466"/>
                  </a:lnTo>
                  <a:close/>
                  <a:moveTo>
                    <a:pt x="7688" y="725"/>
                  </a:moveTo>
                  <a:lnTo>
                    <a:pt x="7688" y="4883"/>
                  </a:lnTo>
                  <a:lnTo>
                    <a:pt x="4223" y="4883"/>
                  </a:lnTo>
                  <a:lnTo>
                    <a:pt x="4223" y="725"/>
                  </a:lnTo>
                  <a:close/>
                  <a:moveTo>
                    <a:pt x="11185" y="2111"/>
                  </a:moveTo>
                  <a:lnTo>
                    <a:pt x="11185" y="4883"/>
                  </a:lnTo>
                  <a:lnTo>
                    <a:pt x="8381" y="4883"/>
                  </a:lnTo>
                  <a:lnTo>
                    <a:pt x="8381" y="2111"/>
                  </a:lnTo>
                  <a:close/>
                  <a:moveTo>
                    <a:pt x="3845" y="0"/>
                  </a:moveTo>
                  <a:cubicBezTo>
                    <a:pt x="3656" y="0"/>
                    <a:pt x="3498" y="158"/>
                    <a:pt x="3498" y="378"/>
                  </a:cubicBezTo>
                  <a:lnTo>
                    <a:pt x="3498" y="2804"/>
                  </a:lnTo>
                  <a:lnTo>
                    <a:pt x="348" y="2804"/>
                  </a:lnTo>
                  <a:cubicBezTo>
                    <a:pt x="158" y="2804"/>
                    <a:pt x="1" y="2962"/>
                    <a:pt x="1" y="3151"/>
                  </a:cubicBezTo>
                  <a:lnTo>
                    <a:pt x="1" y="5261"/>
                  </a:lnTo>
                  <a:cubicBezTo>
                    <a:pt x="1" y="5450"/>
                    <a:pt x="158" y="5608"/>
                    <a:pt x="348" y="5608"/>
                  </a:cubicBezTo>
                  <a:lnTo>
                    <a:pt x="11500" y="5608"/>
                  </a:lnTo>
                  <a:cubicBezTo>
                    <a:pt x="11689" y="5608"/>
                    <a:pt x="11847" y="5450"/>
                    <a:pt x="11847" y="5261"/>
                  </a:cubicBezTo>
                  <a:lnTo>
                    <a:pt x="11847" y="1733"/>
                  </a:lnTo>
                  <a:cubicBezTo>
                    <a:pt x="11847" y="1544"/>
                    <a:pt x="11689" y="1386"/>
                    <a:pt x="11532" y="1386"/>
                  </a:cubicBezTo>
                  <a:lnTo>
                    <a:pt x="8381" y="1386"/>
                  </a:lnTo>
                  <a:lnTo>
                    <a:pt x="8381" y="378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5">
              <a:extLst>
                <a:ext uri="{FF2B5EF4-FFF2-40B4-BE49-F238E27FC236}">
                  <a16:creationId xmlns:a16="http://schemas.microsoft.com/office/drawing/2014/main" id="{79FFF14D-3326-9B1A-BB3D-006800D2B681}"/>
                </a:ext>
              </a:extLst>
            </p:cNvPr>
            <p:cNvSpPr/>
            <p:nvPr/>
          </p:nvSpPr>
          <p:spPr>
            <a:xfrm>
              <a:off x="4051000" y="268302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62"/>
                  </a:moveTo>
                  <a:cubicBezTo>
                    <a:pt x="2804" y="662"/>
                    <a:pt x="3120" y="977"/>
                    <a:pt x="3120" y="1387"/>
                  </a:cubicBezTo>
                  <a:cubicBezTo>
                    <a:pt x="3120" y="1765"/>
                    <a:pt x="2804" y="2080"/>
                    <a:pt x="2426" y="2080"/>
                  </a:cubicBezTo>
                  <a:cubicBezTo>
                    <a:pt x="2017" y="2080"/>
                    <a:pt x="1702" y="1765"/>
                    <a:pt x="1702" y="1387"/>
                  </a:cubicBezTo>
                  <a:cubicBezTo>
                    <a:pt x="1702" y="977"/>
                    <a:pt x="2017" y="662"/>
                    <a:pt x="2426" y="662"/>
                  </a:cubicBezTo>
                  <a:close/>
                  <a:moveTo>
                    <a:pt x="2426" y="2742"/>
                  </a:moveTo>
                  <a:cubicBezTo>
                    <a:pt x="3340" y="2742"/>
                    <a:pt x="4128" y="3529"/>
                    <a:pt x="4128" y="4474"/>
                  </a:cubicBezTo>
                  <a:lnTo>
                    <a:pt x="4128" y="4852"/>
                  </a:lnTo>
                  <a:lnTo>
                    <a:pt x="694" y="4852"/>
                  </a:lnTo>
                  <a:lnTo>
                    <a:pt x="694" y="4474"/>
                  </a:lnTo>
                  <a:cubicBezTo>
                    <a:pt x="694" y="3498"/>
                    <a:pt x="1481" y="2742"/>
                    <a:pt x="2426" y="2742"/>
                  </a:cubicBezTo>
                  <a:close/>
                  <a:moveTo>
                    <a:pt x="2489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3"/>
                    <a:pt x="1229" y="2049"/>
                    <a:pt x="1450" y="2269"/>
                  </a:cubicBezTo>
                  <a:cubicBezTo>
                    <a:pt x="568" y="2679"/>
                    <a:pt x="1" y="3498"/>
                    <a:pt x="1" y="4474"/>
                  </a:cubicBezTo>
                  <a:lnTo>
                    <a:pt x="1" y="5199"/>
                  </a:lnTo>
                  <a:cubicBezTo>
                    <a:pt x="1" y="5388"/>
                    <a:pt x="158" y="5546"/>
                    <a:pt x="379" y="5546"/>
                  </a:cubicBezTo>
                  <a:lnTo>
                    <a:pt x="4537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48" y="2679"/>
                    <a:pt x="3529" y="2269"/>
                  </a:cubicBezTo>
                  <a:cubicBezTo>
                    <a:pt x="3750" y="2049"/>
                    <a:pt x="3876" y="1733"/>
                    <a:pt x="3876" y="1387"/>
                  </a:cubicBezTo>
                  <a:cubicBezTo>
                    <a:pt x="3876" y="631"/>
                    <a:pt x="3246" y="1"/>
                    <a:pt x="2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5">
              <a:extLst>
                <a:ext uri="{FF2B5EF4-FFF2-40B4-BE49-F238E27FC236}">
                  <a16:creationId xmlns:a16="http://schemas.microsoft.com/office/drawing/2014/main" id="{FBFF52ED-ED4B-9E2C-039E-11983F9A8842}"/>
                </a:ext>
              </a:extLst>
            </p:cNvPr>
            <p:cNvSpPr/>
            <p:nvPr/>
          </p:nvSpPr>
          <p:spPr>
            <a:xfrm>
              <a:off x="4084875" y="2873200"/>
              <a:ext cx="52800" cy="69775"/>
            </a:xfrm>
            <a:custGeom>
              <a:avLst/>
              <a:gdLst/>
              <a:ahLst/>
              <a:cxnLst/>
              <a:rect l="l" t="t" r="r" b="b"/>
              <a:pathLst>
                <a:path w="2112" h="2791" extrusionOk="0">
                  <a:moveTo>
                    <a:pt x="1095" y="0"/>
                  </a:moveTo>
                  <a:cubicBezTo>
                    <a:pt x="1001" y="0"/>
                    <a:pt x="903" y="28"/>
                    <a:pt x="819" y="112"/>
                  </a:cubicBezTo>
                  <a:lnTo>
                    <a:pt x="126" y="805"/>
                  </a:lnTo>
                  <a:cubicBezTo>
                    <a:pt x="0" y="931"/>
                    <a:pt x="0" y="1184"/>
                    <a:pt x="126" y="1278"/>
                  </a:cubicBezTo>
                  <a:cubicBezTo>
                    <a:pt x="205" y="1341"/>
                    <a:pt x="292" y="1373"/>
                    <a:pt x="378" y="1373"/>
                  </a:cubicBezTo>
                  <a:cubicBezTo>
                    <a:pt x="465" y="1373"/>
                    <a:pt x="552" y="1341"/>
                    <a:pt x="630" y="1278"/>
                  </a:cubicBezTo>
                  <a:lnTo>
                    <a:pt x="756" y="1184"/>
                  </a:lnTo>
                  <a:lnTo>
                    <a:pt x="756" y="2066"/>
                  </a:lnTo>
                  <a:lnTo>
                    <a:pt x="378" y="2066"/>
                  </a:lnTo>
                  <a:cubicBezTo>
                    <a:pt x="189" y="2066"/>
                    <a:pt x="32" y="2223"/>
                    <a:pt x="32" y="2444"/>
                  </a:cubicBezTo>
                  <a:cubicBezTo>
                    <a:pt x="32" y="2633"/>
                    <a:pt x="189" y="2790"/>
                    <a:pt x="378" y="2790"/>
                  </a:cubicBezTo>
                  <a:lnTo>
                    <a:pt x="1765" y="2790"/>
                  </a:lnTo>
                  <a:cubicBezTo>
                    <a:pt x="1954" y="2790"/>
                    <a:pt x="2111" y="2633"/>
                    <a:pt x="2111" y="2444"/>
                  </a:cubicBezTo>
                  <a:cubicBezTo>
                    <a:pt x="2111" y="2223"/>
                    <a:pt x="1954" y="2066"/>
                    <a:pt x="1765" y="2066"/>
                  </a:cubicBezTo>
                  <a:lnTo>
                    <a:pt x="1418" y="2066"/>
                  </a:lnTo>
                  <a:lnTo>
                    <a:pt x="1418" y="333"/>
                  </a:lnTo>
                  <a:cubicBezTo>
                    <a:pt x="1418" y="175"/>
                    <a:pt x="1323" y="81"/>
                    <a:pt x="1229" y="18"/>
                  </a:cubicBezTo>
                  <a:cubicBezTo>
                    <a:pt x="1187" y="7"/>
                    <a:pt x="1141" y="0"/>
                    <a:pt x="1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" name="Google Shape;267;p25">
            <a:extLst>
              <a:ext uri="{FF2B5EF4-FFF2-40B4-BE49-F238E27FC236}">
                <a16:creationId xmlns:a16="http://schemas.microsoft.com/office/drawing/2014/main" id="{BC92B303-B7F8-0DC3-00B5-C08575CC6A44}"/>
              </a:ext>
            </a:extLst>
          </p:cNvPr>
          <p:cNvGrpSpPr/>
          <p:nvPr/>
        </p:nvGrpSpPr>
        <p:grpSpPr>
          <a:xfrm>
            <a:off x="6239626" y="2968837"/>
            <a:ext cx="410974" cy="345001"/>
            <a:chOff x="-1333200" y="2770450"/>
            <a:chExt cx="291450" cy="292225"/>
          </a:xfrm>
        </p:grpSpPr>
        <p:sp>
          <p:nvSpPr>
            <p:cNvPr id="268" name="Google Shape;268;p25">
              <a:extLst>
                <a:ext uri="{FF2B5EF4-FFF2-40B4-BE49-F238E27FC236}">
                  <a16:creationId xmlns:a16="http://schemas.microsoft.com/office/drawing/2014/main" id="{10D56E52-38D0-C6E8-3B5E-11C5D1596C53}"/>
                </a:ext>
              </a:extLst>
            </p:cNvPr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5">
              <a:extLst>
                <a:ext uri="{FF2B5EF4-FFF2-40B4-BE49-F238E27FC236}">
                  <a16:creationId xmlns:a16="http://schemas.microsoft.com/office/drawing/2014/main" id="{2D638C48-79B4-3888-6045-DFA5EC22BD14}"/>
                </a:ext>
              </a:extLst>
            </p:cNvPr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35;p25">
            <a:extLst>
              <a:ext uri="{FF2B5EF4-FFF2-40B4-BE49-F238E27FC236}">
                <a16:creationId xmlns:a16="http://schemas.microsoft.com/office/drawing/2014/main" id="{80AB0333-E13B-1A3F-5B14-62D5D5A566C5}"/>
              </a:ext>
            </a:extLst>
          </p:cNvPr>
          <p:cNvSpPr/>
          <p:nvPr/>
        </p:nvSpPr>
        <p:spPr>
          <a:xfrm>
            <a:off x="5308988" y="4166910"/>
            <a:ext cx="780795" cy="803224"/>
          </a:xfrm>
          <a:custGeom>
            <a:avLst/>
            <a:gdLst/>
            <a:ahLst/>
            <a:cxnLst/>
            <a:rect l="l" t="t" r="r" b="b"/>
            <a:pathLst>
              <a:path w="1178559" h="2613025" extrusionOk="0">
                <a:moveTo>
                  <a:pt x="589000" y="0"/>
                </a:moveTo>
                <a:lnTo>
                  <a:pt x="0" y="408254"/>
                </a:lnTo>
                <a:lnTo>
                  <a:pt x="0" y="2612885"/>
                </a:lnTo>
                <a:lnTo>
                  <a:pt x="1178001" y="2612885"/>
                </a:lnTo>
                <a:lnTo>
                  <a:pt x="1178001" y="408254"/>
                </a:lnTo>
                <a:lnTo>
                  <a:pt x="58900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21176"/>
                </a:srgbClr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pic>
        <p:nvPicPr>
          <p:cNvPr id="5" name="Gráfico 4" descr="Mão aberta com preenchimento sólido">
            <a:extLst>
              <a:ext uri="{FF2B5EF4-FFF2-40B4-BE49-F238E27FC236}">
                <a16:creationId xmlns:a16="http://schemas.microsoft.com/office/drawing/2014/main" id="{20862AF1-6EEB-2C60-8381-E28E6CE70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040" y="4239811"/>
            <a:ext cx="557521" cy="557521"/>
          </a:xfrm>
          <a:prstGeom prst="rect">
            <a:avLst/>
          </a:prstGeom>
        </p:spPr>
      </p:pic>
      <p:sp>
        <p:nvSpPr>
          <p:cNvPr id="6" name="Google Shape;242;p25">
            <a:extLst>
              <a:ext uri="{FF2B5EF4-FFF2-40B4-BE49-F238E27FC236}">
                <a16:creationId xmlns:a16="http://schemas.microsoft.com/office/drawing/2014/main" id="{7894A7E9-A4CD-9212-A0C5-995FF2F4D280}"/>
              </a:ext>
            </a:extLst>
          </p:cNvPr>
          <p:cNvSpPr txBox="1">
            <a:spLocks/>
          </p:cNvSpPr>
          <p:nvPr/>
        </p:nvSpPr>
        <p:spPr>
          <a:xfrm>
            <a:off x="435229" y="4334843"/>
            <a:ext cx="41976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Condensed Light"/>
              <a:buChar char="●"/>
              <a:defRPr sz="18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 algn="r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/>
              <a:t>SUPORTE ESPECIALIZADO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Roboto Condensed Light"/>
              <a:buNone/>
            </a:pPr>
            <a:endParaRPr lang="pt-BR" sz="1600" dirty="0"/>
          </a:p>
        </p:txBody>
      </p:sp>
      <p:cxnSp>
        <p:nvCxnSpPr>
          <p:cNvPr id="7" name="Google Shape;234;p25">
            <a:extLst>
              <a:ext uri="{FF2B5EF4-FFF2-40B4-BE49-F238E27FC236}">
                <a16:creationId xmlns:a16="http://schemas.microsoft.com/office/drawing/2014/main" id="{8A09DBC1-A0C1-1264-B4FF-BEF10083D44F}"/>
              </a:ext>
            </a:extLst>
          </p:cNvPr>
          <p:cNvCxnSpPr>
            <a:cxnSpLocks/>
          </p:cNvCxnSpPr>
          <p:nvPr/>
        </p:nvCxnSpPr>
        <p:spPr>
          <a:xfrm flipH="1">
            <a:off x="4588583" y="4568522"/>
            <a:ext cx="698942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diamond" w="sm" len="sm"/>
          </a:ln>
        </p:spPr>
      </p:cxnSp>
    </p:spTree>
    <p:extLst>
      <p:ext uri="{BB962C8B-B14F-4D97-AF65-F5344CB8AC3E}">
        <p14:creationId xmlns:p14="http://schemas.microsoft.com/office/powerpoint/2010/main" val="4247584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10ED3C89-497F-996B-21A4-B5B744E4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>
            <a:extLst>
              <a:ext uri="{FF2B5EF4-FFF2-40B4-BE49-F238E27FC236}">
                <a16:creationId xmlns:a16="http://schemas.microsoft.com/office/drawing/2014/main" id="{F242B041-6384-EA51-8FD4-FDC6EBBF4D8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445350" y="304600"/>
            <a:ext cx="83949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 dirty="0">
                <a:latin typeface="Roboto Condensed"/>
                <a:ea typeface="Roboto Condensed"/>
                <a:cs typeface="Roboto Condensed"/>
                <a:sym typeface="Roboto Condensed"/>
              </a:rPr>
              <a:t>CASES DE SUCESSO</a:t>
            </a:r>
            <a:endParaRPr sz="42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243" name="Google Shape;243;p25">
            <a:extLst>
              <a:ext uri="{FF2B5EF4-FFF2-40B4-BE49-F238E27FC236}">
                <a16:creationId xmlns:a16="http://schemas.microsoft.com/office/drawing/2014/main" id="{0742968F-5789-46E7-69F8-56856A58C728}"/>
              </a:ext>
            </a:extLst>
          </p:cNvPr>
          <p:cNvGrpSpPr/>
          <p:nvPr/>
        </p:nvGrpSpPr>
        <p:grpSpPr>
          <a:xfrm>
            <a:off x="6994585" y="1514205"/>
            <a:ext cx="416939" cy="346357"/>
            <a:chOff x="2508825" y="2318350"/>
            <a:chExt cx="297750" cy="295400"/>
          </a:xfrm>
        </p:grpSpPr>
        <p:sp>
          <p:nvSpPr>
            <p:cNvPr id="244" name="Google Shape;244;p25">
              <a:extLst>
                <a:ext uri="{FF2B5EF4-FFF2-40B4-BE49-F238E27FC236}">
                  <a16:creationId xmlns:a16="http://schemas.microsoft.com/office/drawing/2014/main" id="{A2BD0042-B3A0-003D-B94A-FF801339EE87}"/>
                </a:ext>
              </a:extLst>
            </p:cNvPr>
            <p:cNvSpPr/>
            <p:nvPr/>
          </p:nvSpPr>
          <p:spPr>
            <a:xfrm>
              <a:off x="2508825" y="2318350"/>
              <a:ext cx="297750" cy="295400"/>
            </a:xfrm>
            <a:custGeom>
              <a:avLst/>
              <a:gdLst/>
              <a:ahLst/>
              <a:cxnLst/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5">
              <a:extLst>
                <a:ext uri="{FF2B5EF4-FFF2-40B4-BE49-F238E27FC236}">
                  <a16:creationId xmlns:a16="http://schemas.microsoft.com/office/drawing/2014/main" id="{B9DCA4CE-7A3C-68FB-DF3F-13E8ACF8C87D}"/>
                </a:ext>
              </a:extLst>
            </p:cNvPr>
            <p:cNvSpPr/>
            <p:nvPr/>
          </p:nvSpPr>
          <p:spPr>
            <a:xfrm>
              <a:off x="2629350" y="2353025"/>
              <a:ext cx="54350" cy="121300"/>
            </a:xfrm>
            <a:custGeom>
              <a:avLst/>
              <a:gdLst/>
              <a:ahLst/>
              <a:cxnLst/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249351-B2FE-1FC7-DAE9-9BD4ADCAA7DF}"/>
              </a:ext>
            </a:extLst>
          </p:cNvPr>
          <p:cNvSpPr txBox="1"/>
          <p:nvPr/>
        </p:nvSpPr>
        <p:spPr>
          <a:xfrm>
            <a:off x="281847" y="1860562"/>
            <a:ext cx="1817783" cy="116955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12700"/>
          </a:effectLst>
          <a:scene3d>
            <a:camera prst="orthographicFront"/>
            <a:lightRig rig="threePt" dir="t"/>
          </a:scene3d>
          <a:sp3d prstMaterial="softEdge">
            <a:bevelT/>
            <a:bevelB/>
          </a:sp3d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* Experiência comprovada: Mais de 200 clientes atendidos em todo o território nacional desde 2019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5B748A-F9FC-FA84-27B2-40D8E0D62D42}"/>
              </a:ext>
            </a:extLst>
          </p:cNvPr>
          <p:cNvSpPr txBox="1"/>
          <p:nvPr/>
        </p:nvSpPr>
        <p:spPr>
          <a:xfrm>
            <a:off x="2307573" y="1860562"/>
            <a:ext cx="1410159" cy="738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12700"/>
          </a:effectLst>
          <a:scene3d>
            <a:camera prst="orthographicFront"/>
            <a:lightRig rig="threePt" dir="t"/>
          </a:scene3d>
          <a:sp3d prstMaterial="softEdge">
            <a:bevelT/>
            <a:bevelB/>
          </a:sp3d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bg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* Clientes internacionais (Uruguai....)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E9FB86E-C31E-A84D-EDC2-9568176869E2}"/>
              </a:ext>
            </a:extLst>
          </p:cNvPr>
          <p:cNvSpPr txBox="1"/>
          <p:nvPr/>
        </p:nvSpPr>
        <p:spPr>
          <a:xfrm>
            <a:off x="3925676" y="1860562"/>
            <a:ext cx="1817783" cy="738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12700"/>
          </a:effectLst>
          <a:scene3d>
            <a:camera prst="orthographicFront"/>
            <a:lightRig rig="threePt" dir="t"/>
          </a:scene3d>
          <a:sp3d prstMaterial="softEdge">
            <a:bevelT/>
            <a:bevelB/>
          </a:sp3d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>
                <a:solidFill>
                  <a:schemeClr val="bg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* Expertise em indústriais frigoríficas e de alimentos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8479D9A-8568-1B93-EAFA-3918BEBA553D}"/>
              </a:ext>
            </a:extLst>
          </p:cNvPr>
          <p:cNvSpPr txBox="1"/>
          <p:nvPr/>
        </p:nvSpPr>
        <p:spPr>
          <a:xfrm>
            <a:off x="5951401" y="1860562"/>
            <a:ext cx="1817783" cy="738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12700"/>
          </a:effectLst>
          <a:scene3d>
            <a:camera prst="orthographicFront"/>
            <a:lightRig rig="threePt" dir="t"/>
          </a:scene3d>
          <a:sp3d prstMaterial="softEdge">
            <a:bevelT/>
            <a:bevelB/>
          </a:sp3d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>
                <a:solidFill>
                  <a:schemeClr val="bg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pt-BR" dirty="0"/>
              <a:t>* Tecnologia própria e engenharia especializada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EA7FEF3-200F-CBCD-9BDB-23842CC8F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5730" y="3455239"/>
            <a:ext cx="1210019" cy="119839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EFFD51B-DAC6-2249-BB52-AE952665E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229559" y="3455239"/>
            <a:ext cx="1210019" cy="121109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95E9E159-A99A-5681-4C74-48EDC72AC4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255284" y="3455238"/>
            <a:ext cx="1210019" cy="11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>
            <a:spLocks noGrp="1"/>
          </p:cNvSpPr>
          <p:nvPr>
            <p:ph type="ctrTitle"/>
          </p:nvPr>
        </p:nvSpPr>
        <p:spPr>
          <a:xfrm flipH="1">
            <a:off x="2185349" y="1713903"/>
            <a:ext cx="4449300" cy="82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700" b="1" dirty="0">
                <a:latin typeface="Roboto Condensed"/>
                <a:ea typeface="Roboto Condensed"/>
                <a:cs typeface="Roboto Condensed"/>
                <a:sym typeface="Roboto Condensed"/>
              </a:rPr>
              <a:t>CONTATO</a:t>
            </a:r>
            <a:endParaRPr sz="57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5" name="Google Shape;275;p26"/>
          <p:cNvSpPr txBox="1">
            <a:spLocks noGrp="1"/>
          </p:cNvSpPr>
          <p:nvPr>
            <p:ph type="subTitle" idx="1"/>
          </p:nvPr>
        </p:nvSpPr>
        <p:spPr>
          <a:xfrm>
            <a:off x="703925" y="2394575"/>
            <a:ext cx="39240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 dirty="0"/>
              <a:t>j</a:t>
            </a:r>
            <a:r>
              <a:rPr lang="es" sz="2500" dirty="0"/>
              <a:t>osue.conchi@normatiza.app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00" dirty="0"/>
              <a:t>+55(49) 99915-7770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/>
              <a:t>normatiza.app</a:t>
            </a:r>
            <a:endParaRPr sz="2500" dirty="0"/>
          </a:p>
        </p:txBody>
      </p:sp>
      <p:pic>
        <p:nvPicPr>
          <p:cNvPr id="276" name="Google Shape;276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025" t="27489" r="54324" b="22900"/>
          <a:stretch/>
        </p:blipFill>
        <p:spPr>
          <a:xfrm>
            <a:off x="802707" y="4260162"/>
            <a:ext cx="622107" cy="660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>
            <a:hlinkClick r:id="rId5"/>
          </p:cNvPr>
          <p:cNvPicPr preferRelativeResize="0"/>
          <p:nvPr/>
        </p:nvPicPr>
        <p:blipFill rotWithShape="1">
          <a:blip r:embed="rId4">
            <a:alphaModFix/>
          </a:blip>
          <a:srcRect l="49374" t="30227" r="13599" b="21299"/>
          <a:stretch/>
        </p:blipFill>
        <p:spPr>
          <a:xfrm>
            <a:off x="1456450" y="4289298"/>
            <a:ext cx="650400" cy="63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C353AAD-16E8-15CA-E076-CAF113A933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8534" y="2796828"/>
            <a:ext cx="495379" cy="435933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075AF5A-F209-8EB1-DCB8-4B4CB328C1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46822" y="3277317"/>
            <a:ext cx="418801" cy="41880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72979EB-EE95-0E56-75C8-E932CB6FD7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 rot="10800000" flipV="1">
            <a:off x="246822" y="3756963"/>
            <a:ext cx="418801" cy="4188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E5B2CA"/>
      </a:dk1>
      <a:lt1>
        <a:srgbClr val="613FB8"/>
      </a:lt1>
      <a:dk2>
        <a:srgbClr val="FFFFFF"/>
      </a:dk2>
      <a:lt2>
        <a:srgbClr val="EFEFEF"/>
      </a:lt2>
      <a:accent1>
        <a:srgbClr val="D9D9D9"/>
      </a:accent1>
      <a:accent2>
        <a:srgbClr val="CCCCCC"/>
      </a:accent2>
      <a:accent3>
        <a:srgbClr val="E5B2CA"/>
      </a:accent3>
      <a:accent4>
        <a:srgbClr val="613FB8"/>
      </a:accent4>
      <a:accent5>
        <a:srgbClr val="FFFFFF"/>
      </a:accent5>
      <a:accent6>
        <a:srgbClr val="EFEFE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206</Words>
  <Application>Microsoft Office PowerPoint</Application>
  <PresentationFormat>Apresentação na tela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Roboto Condensed</vt:lpstr>
      <vt:lpstr>Roboto Condensed Light</vt:lpstr>
      <vt:lpstr>Squada One</vt:lpstr>
      <vt:lpstr>Fira Sans Extra Condensed Medium</vt:lpstr>
      <vt:lpstr>Tech Startup by Slidesgo</vt:lpstr>
      <vt:lpstr>Apresentação do PowerPoint</vt:lpstr>
      <vt:lpstr>Quem Somos</vt:lpstr>
      <vt:lpstr>O QUE FAZEMOS</vt:lpstr>
      <vt:lpstr>DIFERENCIAIS</vt:lpstr>
      <vt:lpstr>CASES DE SUCESSO</vt:lpstr>
      <vt:lpstr>CONTATO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Josué Evandro Conchi</cp:lastModifiedBy>
  <cp:revision>6</cp:revision>
  <dcterms:modified xsi:type="dcterms:W3CDTF">2026-07-15T15:47:29Z</dcterms:modified>
</cp:coreProperties>
</file>